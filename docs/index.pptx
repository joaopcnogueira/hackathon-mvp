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41230"/>
                </a:solidFill>
              </a:defRPr>
            </a:pPr>
            <a:r>
              <a:t>Hackathon 2026</a:t>
            </a:r>
          </a:p>
          <a:p>
            <a:pPr algn="ctr">
              <a:defRPr sz="3200">
                <a:solidFill>
                  <a:srgbClr val="2B3D4A"/>
                </a:solidFill>
              </a:defRPr>
            </a:pPr>
            <a:r>
              <a:t>Plataforma AutoML</a:t>
            </a:r>
          </a:p>
          <a:p/>
          <a:p>
            <a:pPr algn="ctr">
              <a:defRPr sz="1800">
                <a:solidFill>
                  <a:srgbClr val="888888"/>
                </a:solidFill>
              </a:defRPr>
            </a:pPr>
            <a:r>
              <a:t>02 a 06 de Fevereiro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41230"/>
                </a:solidFill>
              </a:defRPr>
            </a:pPr>
            <a:r>
              <a:t>Minerva Foods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C41230"/>
                </a:solidFill>
              </a:defRPr>
            </a:pPr>
            <a:r>
              <a:t>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B3D4A"/>
                </a:solidFill>
              </a:defRPr>
            </a:pPr>
            <a:r>
              <a:t>do tempo de cientistas de dados é gasto em tarefas repetitivas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B949E"/>
                </a:solidFill>
              </a:defRPr>
            </a:pPr>
            <a:r>
              <a:t>Limpeza de dados • Tratamento de nulos • Seleção de variáveis • Experimentação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Fonte: Forbes/CrowdFlower Data Science Survey, 2016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A Solução: AutoML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B3D4A"/>
                </a:solidFill>
              </a:defRPr>
            </a:pPr>
            <a:r>
              <a:t>Automated Machine Learning</a:t>
            </a:r>
            <a:br/>
            <a:br/>
            <a:r>
              <a:t>Democratizar o acesso à inteligência artificial,</a:t>
            </a:r>
            <a:br/>
            <a:r>
              <a:t>permitindo que qualquer pessoa treine modelos</a:t>
            </a:r>
            <a:br/>
            <a:r>
              <a:t>sem escrever código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O Desafio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B3D4A"/>
                </a:solidFill>
              </a:defRPr>
            </a:pPr>
            <a:r>
              <a:t>Construir uma plataforma AutoML no-code</a:t>
            </a:r>
            <a:br/>
            <a:r>
              <a:t>(point &amp; click)</a:t>
            </a:r>
            <a:br/>
            <a:br/>
            <a:r>
              <a:t>Que permita a qualquer usuário — técnico ou não —</a:t>
            </a:r>
            <a:br/>
            <a:r>
              <a:t>treinar modelos de machine learning de forma</a:t>
            </a:r>
            <a:br/>
            <a:r>
              <a:t>intuitiva e profissional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O que a plataforma deve fazer?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B3D4A"/>
                </a:solidFill>
              </a:defRPr>
            </a:pPr>
            <a:r>
              <a:t>1. Upload e Análise de Dados</a:t>
            </a:r>
          </a:p>
          <a:p>
            <a:pPr>
              <a:spcAft>
                <a:spcPts val="1000"/>
              </a:spcAft>
              <a:defRPr sz="2200">
                <a:solidFill>
                  <a:srgbClr val="2B3D4A"/>
                </a:solidFill>
              </a:defRPr>
            </a:pPr>
            <a:r>
              <a:t>2. Pré-processamento Automático</a:t>
            </a:r>
          </a:p>
          <a:p>
            <a:pPr>
              <a:spcAft>
                <a:spcPts val="1000"/>
              </a:spcAft>
              <a:defRPr sz="2200">
                <a:solidFill>
                  <a:srgbClr val="2B3D4A"/>
                </a:solidFill>
              </a:defRPr>
            </a:pPr>
            <a:r>
              <a:t>3. Treinamento de Modelos</a:t>
            </a:r>
          </a:p>
          <a:p>
            <a:pPr>
              <a:spcAft>
                <a:spcPts val="1000"/>
              </a:spcAft>
              <a:defRPr sz="2200">
                <a:solidFill>
                  <a:srgbClr val="2B3D4A"/>
                </a:solidFill>
              </a:defRPr>
            </a:pPr>
            <a:r>
              <a:t>4. Avaliação e Comparação</a:t>
            </a:r>
          </a:p>
          <a:p>
            <a:pPr>
              <a:spcAft>
                <a:spcPts val="1000"/>
              </a:spcAft>
              <a:defRPr sz="2200">
                <a:solidFill>
                  <a:srgbClr val="2B3D4A"/>
                </a:solidFill>
              </a:defRPr>
            </a:pPr>
            <a:r>
              <a:t>5. Deploy do Modelo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1. Upload e Análise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B3D4A"/>
                </a:solidFill>
              </a:defRPr>
            </a:pPr>
            <a:r>
              <a:t>• Aceitar arquivos CSV e Excel</a:t>
            </a:r>
          </a:p>
          <a:p>
            <a:pPr>
              <a:spcAft>
                <a:spcPts val="1200"/>
              </a:spcAft>
              <a:defRPr sz="2400">
                <a:solidFill>
                  <a:srgbClr val="2B3D4A"/>
                </a:solidFill>
              </a:defRPr>
            </a:pPr>
            <a:r>
              <a:t>• Detectar automaticamente tipos de colunas</a:t>
            </a:r>
          </a:p>
          <a:p>
            <a:pPr>
              <a:spcAft>
                <a:spcPts val="1200"/>
              </a:spcAft>
              <a:defRPr sz="2400">
                <a:solidFill>
                  <a:srgbClr val="2B3D4A"/>
                </a:solidFill>
              </a:defRPr>
            </a:pPr>
            <a:r>
              <a:t>• Identificar valores nulos e problemas</a:t>
            </a:r>
          </a:p>
          <a:p>
            <a:pPr>
              <a:spcAft>
                <a:spcPts val="1200"/>
              </a:spcAft>
              <a:defRPr sz="2400">
                <a:solidFill>
                  <a:srgbClr val="2B3D4A"/>
                </a:solidFill>
              </a:defRPr>
            </a:pPr>
            <a:r>
              <a:t>• Exibir estatísticas descritivas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2. Pré-processamento Automático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B3D4A"/>
                </a:solidFill>
              </a:defRPr>
            </a:pPr>
            <a:r>
              <a:t>• Tratamento de valores faltantes (imputação)</a:t>
            </a:r>
          </a:p>
          <a:p>
            <a:pPr>
              <a:spcAft>
                <a:spcPts val="800"/>
              </a:spcAft>
              <a:defRPr sz="2200">
                <a:solidFill>
                  <a:srgbClr val="2B3D4A"/>
                </a:solidFill>
              </a:defRPr>
            </a:pPr>
            <a:r>
              <a:t>• Codificação de variáveis categóricas</a:t>
            </a:r>
          </a:p>
          <a:p>
            <a:pPr>
              <a:spcAft>
                <a:spcPts val="800"/>
              </a:spcAft>
              <a:defRPr sz="2200">
                <a:solidFill>
                  <a:srgbClr val="2B3D4A"/>
                </a:solidFill>
              </a:defRPr>
            </a:pPr>
            <a:r>
              <a:t>• Normalização/padronização de features</a:t>
            </a:r>
          </a:p>
          <a:p>
            <a:pPr>
              <a:spcAft>
                <a:spcPts val="800"/>
              </a:spcAft>
              <a:defRPr sz="2200">
                <a:solidFill>
                  <a:srgbClr val="2B3D4A"/>
                </a:solidFill>
              </a:defRPr>
            </a:pPr>
            <a:r>
              <a:t>• Divisão treino/teste correta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7315200" cy="1097280"/>
          </a:xfrm>
          <a:prstGeom prst="roundRect">
            <a:avLst/>
          </a:prstGeom>
          <a:solidFill>
            <a:srgbClr val="FDEDF0"/>
          </a:solidFill>
          <a:ln w="2540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B3D4A"/>
                </a:solidFill>
              </a:defRPr>
            </a:pPr>
            <a:r>
              <a:t>Evitar data leakage: split deve ocorrer antes do pré-processamento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3. Tipos de Problema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Descrição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Exemplo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Classificação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Prever categorias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Cliente vai comprar?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Regressão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Prever valores contínuos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Qual será o custo?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Séries Temporais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Prever valores futuros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Demanda do próximo mês?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41230"/>
                </a:solidFill>
              </a:defRPr>
            </a:pPr>
            <a:r>
              <a:t>Mínimo de 3 algoritmos para cada tipo de problema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4. Avaliação e Comparação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B3D4A"/>
                </a:solidFill>
              </a:defRPr>
            </a:pPr>
            <a:r>
              <a:t>• Calcular métricas apropriadas para cada tipo</a:t>
            </a:r>
          </a:p>
          <a:p>
            <a:pPr>
              <a:spcAft>
                <a:spcPts val="1200"/>
              </a:spcAft>
              <a:defRPr sz="2400">
                <a:solidFill>
                  <a:srgbClr val="2B3D4A"/>
                </a:solidFill>
              </a:defRPr>
            </a:pPr>
            <a:r>
              <a:t>• Comparar performance entre algoritmos</a:t>
            </a:r>
          </a:p>
          <a:p>
            <a:pPr>
              <a:spcAft>
                <a:spcPts val="1200"/>
              </a:spcAft>
              <a:defRPr sz="2400">
                <a:solidFill>
                  <a:srgbClr val="2B3D4A"/>
                </a:solidFill>
              </a:defRPr>
            </a:pPr>
            <a:r>
              <a:t>• Exibir ranking dos melhores modelos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5. Deploy do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334D"/>
                </a:solidFill>
              </a:defRPr>
            </a:pPr>
            <a:r>
              <a:t>API REST</a:t>
            </a:r>
          </a:p>
          <a:p>
            <a:pPr algn="ctr">
              <a:defRPr sz="1800">
                <a:solidFill>
                  <a:srgbClr val="2B3D4A"/>
                </a:solidFill>
              </a:defRPr>
            </a:pPr>
            <a:r>
              <a:t>Predições em tempo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334D"/>
                </a:solidFill>
              </a:defRPr>
            </a:pPr>
            <a:r>
              <a:t>Batch</a:t>
            </a:r>
          </a:p>
          <a:p>
            <a:pPr algn="ctr">
              <a:defRPr sz="1800">
                <a:solidFill>
                  <a:srgbClr val="2B3D4A"/>
                </a:solidFill>
              </a:defRPr>
            </a:pPr>
            <a:r>
              <a:t>Processar múltiplos registros de uma vez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B3D4A"/>
                </a:solidFill>
              </a:defRPr>
            </a:pPr>
            <a:r>
              <a:t>+ Download de artefatos (modelo treinado)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Fluxo do Usuário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1188720" cy="731520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4688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41230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2286000"/>
            <a:ext cx="1188720" cy="731520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Análise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4688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41230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286000"/>
            <a:ext cx="1188720" cy="731520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4688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41230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1188720" cy="731520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Treinar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4688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41230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286000"/>
            <a:ext cx="1188720" cy="731520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Avaliar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4688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41230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286000"/>
            <a:ext cx="1188720" cy="731520"/>
          </a:xfrm>
          <a:prstGeom prst="roundRect">
            <a:avLst/>
          </a:prstGeom>
          <a:solidFill>
            <a:srgbClr val="2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6.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Tudo no-code — O usuário apenas clica e configura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Datasets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Tema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Objetivo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Classificação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Online Shoppers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Prever se visitante comprará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Regressão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Insurance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Prever custo de seguro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Séries Temporais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Daily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Prever valores futuros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B3D4A"/>
                </a:solidFill>
              </a:defRPr>
            </a:pPr>
            <a:r>
              <a:t>Todos os times usam os mesmos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B3D4A"/>
                </a:solidFill>
              </a:defRPr>
            </a:pPr>
            <a:r>
              <a:t>Durante a avaliação, haverá datasets ocultos para testar a robustez da solução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Critérios de Avaliação</a:t>
            </a:r>
          </a:p>
          <a:p>
            <a:pPr algn="ctr">
              <a:defRPr sz="2000">
                <a:solidFill>
                  <a:srgbClr val="E8334D"/>
                </a:solidFill>
              </a:defRPr>
            </a:pPr>
            <a:r>
              <a:t>Funcionalidade — 10 itens por tema (classificação, regressão, séries temporais)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3D4A"/>
                </a:solidFill>
              </a:defRPr>
            </a:pPr>
            <a:r>
              <a:t>• Upload funciona corretamente</a:t>
            </a:r>
          </a:p>
          <a:p>
            <a:pPr>
              <a:spcAft>
                <a:spcPts val="800"/>
              </a:spcAft>
              <a:defRPr sz="1800">
                <a:solidFill>
                  <a:srgbClr val="2B3D4A"/>
                </a:solidFill>
              </a:defRPr>
            </a:pPr>
            <a:r>
              <a:t>• Detecção automática do tipo de problema</a:t>
            </a:r>
          </a:p>
          <a:p>
            <a:pPr>
              <a:spcAft>
                <a:spcPts val="800"/>
              </a:spcAft>
              <a:defRPr sz="1800">
                <a:solidFill>
                  <a:srgbClr val="2B3D4A"/>
                </a:solidFill>
              </a:defRPr>
            </a:pPr>
            <a:r>
              <a:t>• Identificação correta da coluna target</a:t>
            </a:r>
          </a:p>
          <a:p>
            <a:pPr>
              <a:spcAft>
                <a:spcPts val="800"/>
              </a:spcAft>
              <a:defRPr sz="1800">
                <a:solidFill>
                  <a:srgbClr val="2B3D4A"/>
                </a:solidFill>
              </a:defRPr>
            </a:pPr>
            <a:r>
              <a:t>• Pré-processamento executa sem erros</a:t>
            </a:r>
          </a:p>
          <a:p>
            <a:pPr>
              <a:spcAft>
                <a:spcPts val="800"/>
              </a:spcAft>
              <a:defRPr sz="1800">
                <a:solidFill>
                  <a:srgbClr val="2B3D4A"/>
                </a:solidFill>
              </a:defRPr>
            </a:pPr>
            <a:r>
              <a:t>• Treinamento completa com sucesso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82880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3D4A"/>
                </a:solidFill>
              </a:defRPr>
            </a:pPr>
            <a:r>
              <a:t>• Métricas exibidas corretamente</a:t>
            </a:r>
          </a:p>
          <a:p>
            <a:pPr>
              <a:spcAft>
                <a:spcPts val="800"/>
              </a:spcAft>
              <a:defRPr sz="1800">
                <a:solidFill>
                  <a:srgbClr val="2B3D4A"/>
                </a:solidFill>
              </a:defRPr>
            </a:pPr>
            <a:r>
              <a:t>• Comparativo entre modelos</a:t>
            </a:r>
          </a:p>
          <a:p>
            <a:pPr>
              <a:spcAft>
                <a:spcPts val="800"/>
              </a:spcAft>
              <a:defRPr sz="1800">
                <a:solidFill>
                  <a:srgbClr val="2B3D4A"/>
                </a:solidFill>
              </a:defRPr>
            </a:pPr>
            <a:r>
              <a:t>• Deploy via API funciona</a:t>
            </a:r>
          </a:p>
          <a:p>
            <a:pPr>
              <a:spcAft>
                <a:spcPts val="800"/>
              </a:spcAft>
              <a:defRPr sz="1800">
                <a:solidFill>
                  <a:srgbClr val="2B3D4A"/>
                </a:solidFill>
              </a:defRPr>
            </a:pPr>
            <a:r>
              <a:t>• Deploy via Batch funciona</a:t>
            </a:r>
          </a:p>
          <a:p>
            <a:pPr>
              <a:spcAft>
                <a:spcPts val="800"/>
              </a:spcAft>
              <a:defRPr sz="1800">
                <a:solidFill>
                  <a:srgbClr val="2B3D4A"/>
                </a:solidFill>
              </a:defRPr>
            </a:pPr>
            <a:r>
              <a:t>• Interface intuitiva e responsiva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Critérios de Avaliação —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Critério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Classificação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Maior é melhor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Regressão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R²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Maior é melhor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Séries Temporais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Menor é melhor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B3D4A"/>
                </a:solidFill>
              </a:defRPr>
            </a:pPr>
            <a:r>
              <a:t>Critério de desempate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B3D4A"/>
                </a:solidFill>
              </a:defRPr>
            </a:pPr>
            <a:r>
              <a:t>Nota Performance = (Classificação + Regressão + Séries) /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Cronograma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Atividade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02/02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Viagem + Abertura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03/02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Desenvolvimento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04/02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Desenvolvimento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05/02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Desenvolvimento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06/02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Apresentação + Avaliação + Premiação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07/02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D4A"/>
                          </a:solidFill>
                        </a:defRPr>
                      </a:pPr>
                      <a:r>
                        <a:t>Viagem de retorno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Entregáveis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B3D4A"/>
                </a:solidFill>
              </a:defRPr>
            </a:pPr>
            <a:r>
              <a:t>• Plataforma funcional — Interface no-code intuitiva</a:t>
            </a:r>
          </a:p>
          <a:p>
            <a:pPr>
              <a:spcAft>
                <a:spcPts val="1200"/>
              </a:spcAft>
              <a:defRPr sz="2400">
                <a:solidFill>
                  <a:srgbClr val="2B3D4A"/>
                </a:solidFill>
              </a:defRPr>
            </a:pPr>
            <a:r>
              <a:t>• Documentação — Instruções mínimas de uso</a:t>
            </a:r>
          </a:p>
          <a:p>
            <a:pPr>
              <a:spcAft>
                <a:spcPts val="1200"/>
              </a:spcAft>
              <a:defRPr sz="2400">
                <a:solidFill>
                  <a:srgbClr val="2B3D4A"/>
                </a:solidFill>
              </a:defRPr>
            </a:pPr>
            <a:r>
              <a:t>• Demonstração ao vivo — Fluxo upload → treino → deploy</a:t>
            </a:r>
          </a:p>
          <a:p>
            <a:pPr>
              <a:spcAft>
                <a:spcPts val="1200"/>
              </a:spcAft>
              <a:defRPr sz="2400">
                <a:solidFill>
                  <a:srgbClr val="2B3D4A"/>
                </a:solidFill>
              </a:defRPr>
            </a:pPr>
            <a:r>
              <a:t>• API disponível — Para teste durante avaliação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41230"/>
                </a:solidFill>
              </a:defRPr>
            </a:pPr>
            <a:r>
              <a:t>Inspirações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3D4A"/>
                </a:solidFill>
              </a:defRPr>
            </a:pPr>
            <a:r>
              <a:t>• Orange Data Mining — Interface visual com blocos</a:t>
            </a:r>
          </a:p>
          <a:p>
            <a:pPr>
              <a:spcAft>
                <a:spcPts val="800"/>
              </a:spcAft>
              <a:defRPr sz="1800">
                <a:solidFill>
                  <a:srgbClr val="2B3D4A"/>
                </a:solidFill>
              </a:defRPr>
            </a:pPr>
            <a:r>
              <a:t>• Azure ML Studio — Fluxo guiado e profissional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82880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3D4A"/>
                </a:solidFill>
              </a:defRPr>
            </a:pPr>
            <a:r>
              <a:t>• Google AutoML — Simplicidade e foco no usuário</a:t>
            </a:r>
          </a:p>
          <a:p>
            <a:pPr>
              <a:spcAft>
                <a:spcPts val="800"/>
              </a:spcAft>
              <a:defRPr sz="1800">
                <a:solidFill>
                  <a:srgbClr val="2B3D4A"/>
                </a:solidFill>
              </a:defRPr>
            </a:pPr>
            <a:r>
              <a:t>• H2O Driverless AI — Automação inteligente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230"/>
                </a:solidFill>
              </a:defRPr>
            </a:pPr>
            <a:r>
              <a:t>Dicas para os 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B3D4A"/>
                </a:solidFill>
              </a:defRPr>
            </a:pPr>
            <a:r>
              <a:t>1. Foco na experiência do usuário</a:t>
            </a:r>
          </a:p>
          <a:p>
            <a:pPr>
              <a:spcAft>
                <a:spcPts val="1200"/>
              </a:spcAft>
              <a:defRPr sz="1600">
                <a:solidFill>
                  <a:srgbClr val="666666"/>
                </a:solidFill>
              </a:defRPr>
            </a:pPr>
            <a:r>
              <a:t>    A plataforma é para quem NÃO sabe programar</a:t>
            </a:r>
          </a:p>
          <a:p>
            <a:pPr>
              <a:spcAft>
                <a:spcPts val="200"/>
              </a:spcAft>
              <a:defRPr sz="2000" b="1">
                <a:solidFill>
                  <a:srgbClr val="2B3D4A"/>
                </a:solidFill>
              </a:defRPr>
            </a:pPr>
            <a:r>
              <a:t>2. Evitem data leakage</a:t>
            </a:r>
          </a:p>
          <a:p>
            <a:pPr>
              <a:spcAft>
                <a:spcPts val="1200"/>
              </a:spcAft>
              <a:defRPr sz="1600">
                <a:solidFill>
                  <a:srgbClr val="666666"/>
                </a:solidFill>
              </a:defRPr>
            </a:pPr>
            <a:r>
              <a:t>    Split treino/teste ANTES do pré-processamento</a:t>
            </a:r>
          </a:p>
          <a:p>
            <a:pPr>
              <a:spcAft>
                <a:spcPts val="200"/>
              </a:spcAft>
              <a:defRPr sz="2000" b="1">
                <a:solidFill>
                  <a:srgbClr val="2B3D4A"/>
                </a:solidFill>
              </a:defRPr>
            </a:pPr>
            <a:r>
              <a:t>3. Métricas corretas para cada problema</a:t>
            </a:r>
          </a:p>
          <a:p>
            <a:pPr>
              <a:spcAft>
                <a:spcPts val="1200"/>
              </a:spcAft>
              <a:defRPr sz="1600">
                <a:solidFill>
                  <a:srgbClr val="666666"/>
                </a:solidFill>
              </a:defRPr>
            </a:pPr>
            <a:r>
              <a:t>    Não usem métricas de classificação em regressão</a:t>
            </a:r>
          </a:p>
          <a:p>
            <a:pPr>
              <a:spcAft>
                <a:spcPts val="200"/>
              </a:spcAft>
              <a:defRPr sz="2000" b="1">
                <a:solidFill>
                  <a:srgbClr val="2B3D4A"/>
                </a:solidFill>
              </a:defRPr>
            </a:pPr>
            <a:r>
              <a:t>4. Testem com os datasets fornecidos</a:t>
            </a:r>
          </a:p>
          <a:p>
            <a:pPr>
              <a:spcAft>
                <a:spcPts val="1200"/>
              </a:spcAft>
              <a:defRPr sz="1600">
                <a:solidFill>
                  <a:srgbClr val="666666"/>
                </a:solidFill>
              </a:defRPr>
            </a:pPr>
            <a:r>
              <a:t>    Mas lembrem: haverá datasets surpresa</a:t>
            </a:r>
          </a:p>
          <a:p>
            <a:pPr>
              <a:spcAft>
                <a:spcPts val="200"/>
              </a:spcAft>
              <a:defRPr sz="2000" b="1">
                <a:solidFill>
                  <a:srgbClr val="2B3D4A"/>
                </a:solidFill>
              </a:defRPr>
            </a:pPr>
            <a:r>
              <a:t>5. Priorizem funcionalidade básica</a:t>
            </a:r>
          </a:p>
          <a:p>
            <a:pPr>
              <a:spcAft>
                <a:spcPts val="1200"/>
              </a:spcAft>
              <a:defRPr sz="1600">
                <a:solidFill>
                  <a:srgbClr val="666666"/>
                </a:solidFill>
              </a:defRPr>
            </a:pPr>
            <a:r>
              <a:t>    Melhor simples que funciona do que complexo quebrado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41230"/>
                </a:solidFill>
              </a:defRPr>
            </a:pPr>
            <a:r>
              <a:t>Boa sorte!</a:t>
            </a:r>
          </a:p>
          <a:p>
            <a:pPr algn="ctr">
              <a:defRPr sz="3200">
                <a:solidFill>
                  <a:srgbClr val="2B3D4A"/>
                </a:solidFill>
              </a:defRPr>
            </a:pPr>
            <a:r>
              <a:t>Que vença o melhor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41230"/>
                </a:solidFill>
              </a:defRPr>
            </a:pPr>
            <a:r>
              <a:t>Minerva Foods —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